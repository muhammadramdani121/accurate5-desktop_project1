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-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9/28/2026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629DC-EBE7-6A50-3388-A1894465FA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RANGKUMAN CEPAT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6AEB0C-518C-931A-57FF-5BB78F27DC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Accurate 5 </a:t>
            </a:r>
            <a:r>
              <a:rPr lang="en-US" dirty="0" err="1"/>
              <a:t>Dekstop</a:t>
            </a:r>
            <a:r>
              <a:rPr lang="en-US" dirty="0"/>
              <a:t> </a:t>
            </a:r>
            <a:r>
              <a:rPr lang="en-US" dirty="0" err="1"/>
              <a:t>Standar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02151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6E7D1-3188-1E49-9BF8-3630E9DF87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1. Setup Perusahaan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93003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1C4F2-A2CC-F213-EDDC-4C3B0E71B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1.1 Setup Perusahaan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3AA157-D501-7482-DDB5-331CCBD49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Pilih</a:t>
            </a:r>
            <a:r>
              <a:rPr lang="en-US" dirty="0"/>
              <a:t> Bahasa</a:t>
            </a:r>
            <a:endParaRPr lang="en-ID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40EB374-AD49-BF8A-2D4A-8574694E03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95400" y="3310260"/>
            <a:ext cx="4718050" cy="249808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AD7939-2D1F-7CC8-7820-3E11070993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Tipe</a:t>
            </a:r>
            <a:r>
              <a:rPr lang="en-US" dirty="0"/>
              <a:t> </a:t>
            </a:r>
            <a:r>
              <a:rPr lang="en-US" dirty="0" err="1"/>
              <a:t>Persiapan</a:t>
            </a:r>
            <a:endParaRPr lang="en-ID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D3E813D-DC32-315D-3982-BCD21353958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80138" y="3309754"/>
            <a:ext cx="4718050" cy="249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711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5091B-7454-9D50-A5C3-19918614A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140B0-7BDC-5F3F-7E7D-B7A8EBB18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1.2 Setup Perusahaan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EE4C83-4BF8-5009-F800-65556809F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Informasi</a:t>
            </a:r>
            <a:r>
              <a:rPr lang="en-US" dirty="0"/>
              <a:t> Perusahaan 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064EA7-972F-8EDE-AB8D-0D3693C0FE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4. Kas &amp; Bank</a:t>
            </a:r>
            <a:endParaRPr lang="en-ID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22AC867-CD5C-8720-B611-D45BD735254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95400" y="3306068"/>
            <a:ext cx="4718050" cy="2506464"/>
          </a:xfrm>
          <a:prstGeom prst="rect">
            <a:avLst/>
          </a:prstGeom>
        </p:spPr>
      </p:pic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AFCA2C12-7878-131C-1527-F90FFECC9B1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80138" y="3306068"/>
            <a:ext cx="4718050" cy="250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897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59E29-1C0C-8153-0A04-1DB72521B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3F356-CFFF-581E-2EA5-5C29BEB22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 Setup Perusahaan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68199-006D-D9DF-E23E-E0AA2BC15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9400" y="2639283"/>
            <a:ext cx="4718304" cy="576262"/>
          </a:xfrm>
        </p:spPr>
        <p:txBody>
          <a:bodyPr/>
          <a:lstStyle/>
          <a:p>
            <a:pPr algn="ctr"/>
            <a:r>
              <a:rPr lang="en-US" dirty="0"/>
              <a:t>5. Metode </a:t>
            </a:r>
            <a:r>
              <a:rPr lang="en-US" dirty="0" err="1"/>
              <a:t>Persediaan</a:t>
            </a:r>
            <a:endParaRPr lang="en-ID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B5A2D5A-0C9A-75FB-8642-42A41372A9A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819654" y="3322456"/>
            <a:ext cx="4718050" cy="249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119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A5C88-7AC1-4BEC-F95B-4B2864A48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5070B-2B88-621D-6114-1F84535B80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2. Chart of Accounts (COA)</a:t>
            </a:r>
            <a:endParaRPr lang="en-ID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610B903-D921-1A53-0666-E7A6DF632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/>
          <a:lstStyle/>
          <a:p>
            <a:r>
              <a:rPr lang="en-ID" dirty="0"/>
              <a:t>COA = daftar </a:t>
            </a:r>
            <a:r>
              <a:rPr lang="en-ID" dirty="0" err="1"/>
              <a:t>akun</a:t>
            </a:r>
            <a:r>
              <a:rPr lang="en-ID" dirty="0"/>
              <a:t>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mencatat</a:t>
            </a:r>
            <a:r>
              <a:rPr lang="en-ID" dirty="0"/>
              <a:t> </a:t>
            </a:r>
            <a:r>
              <a:rPr lang="en-ID" dirty="0" err="1"/>
              <a:t>transaksi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7430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15B0C-401C-0135-7035-9916355E9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D51FE-AC40-7B2D-B37C-EF7E5A141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 Daftar Akun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016D6-EE04-D751-71AE-EDE3CE878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Ke Daftar Akun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9D77A5-3FB5-6A51-5026-6D729333D5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2. Data Daftar Akun</a:t>
            </a:r>
            <a:endParaRPr lang="en-ID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2AE2C83-91DE-CACC-E083-9A1E8C726F2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95400" y="3308526"/>
            <a:ext cx="4718050" cy="2501549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57ACEDF7-C490-E226-A0FD-61C7DD17C89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80138" y="3309754"/>
            <a:ext cx="4718050" cy="249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61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E479D-07F0-261F-AA0A-B4C4F2E51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C760D-2AB9-2EF8-A221-A9B51A0603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3. Master </a:t>
            </a:r>
            <a:r>
              <a:rPr lang="en-US" dirty="0" err="1"/>
              <a:t>Barangs</a:t>
            </a:r>
            <a:endParaRPr lang="en-ID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00E2405-862E-D0B4-9AE9-73F086B6CC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/>
          <a:lstStyle/>
          <a:p>
            <a:r>
              <a:rPr lang="en-ID" dirty="0"/>
              <a:t>COA = daftar </a:t>
            </a:r>
            <a:r>
              <a:rPr lang="en-ID" dirty="0" err="1"/>
              <a:t>akun</a:t>
            </a:r>
            <a:r>
              <a:rPr lang="en-ID" dirty="0"/>
              <a:t>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mencatat</a:t>
            </a:r>
            <a:r>
              <a:rPr lang="en-ID" dirty="0"/>
              <a:t> </a:t>
            </a:r>
            <a:r>
              <a:rPr lang="en-ID" dirty="0" err="1"/>
              <a:t>transaksi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9080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E6BDB-B24B-0DA4-5369-E111B4309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2DE84-BD9F-75E0-4ED3-05EB77C26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3.1 Master Barang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7382B-9091-F48F-0528-0C5AFA65B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Daftar – Barang &amp; Jasa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27CC53-F159-C08E-4659-529E7E1E09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2. Data Daftar Master Barang</a:t>
            </a:r>
            <a:endParaRPr lang="en-ID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EB143C3-9E8B-98C3-DCE0-C86B0538C82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95400" y="3304840"/>
            <a:ext cx="4718050" cy="2508921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F213C622-9088-30B4-6C2C-0572B314E84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80138" y="3309754"/>
            <a:ext cx="4718050" cy="249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394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2EF65-BB82-E401-D460-A16D0DA54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D24BB-201E-9FEE-6490-9930A1B577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4. Supplier &amp; Customer</a:t>
            </a:r>
            <a:endParaRPr lang="en-ID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3B4EE54-B65F-F272-908E-6BF5F343B1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>
            <a:normAutofit fontScale="92500"/>
          </a:bodyPr>
          <a:lstStyle/>
          <a:p>
            <a:pPr lvl="0" algn="l"/>
            <a:r>
              <a:rPr lang="en-ID" dirty="0"/>
              <a:t>Supplier = </a:t>
            </a:r>
            <a:r>
              <a:rPr lang="en-ID" dirty="0" err="1"/>
              <a:t>Pemasok</a:t>
            </a:r>
            <a:r>
              <a:rPr lang="en-ID" dirty="0"/>
              <a:t> → </a:t>
            </a:r>
            <a:r>
              <a:rPr lang="en-ID" dirty="0" err="1"/>
              <a:t>pihak</a:t>
            </a:r>
            <a:r>
              <a:rPr lang="en-ID" dirty="0"/>
              <a:t> yang </a:t>
            </a:r>
            <a:r>
              <a:rPr lang="en-ID" dirty="0" err="1"/>
              <a:t>menjual</a:t>
            </a:r>
            <a:r>
              <a:rPr lang="en-ID" dirty="0"/>
              <a:t> </a:t>
            </a:r>
            <a:r>
              <a:rPr lang="en-ID" dirty="0" err="1"/>
              <a:t>barang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perusahaan</a:t>
            </a:r>
            <a:r>
              <a:rPr lang="en-ID" dirty="0"/>
              <a:t> .</a:t>
            </a:r>
          </a:p>
          <a:p>
            <a:pPr lvl="0" algn="l"/>
            <a:r>
              <a:rPr lang="en-ID" dirty="0"/>
              <a:t>Customer = </a:t>
            </a:r>
            <a:r>
              <a:rPr lang="en-ID" dirty="0" err="1"/>
              <a:t>Pelanggan</a:t>
            </a:r>
            <a:r>
              <a:rPr lang="en-ID" dirty="0"/>
              <a:t> → </a:t>
            </a:r>
            <a:r>
              <a:rPr lang="en-ID" dirty="0" err="1"/>
              <a:t>pihak</a:t>
            </a:r>
            <a:r>
              <a:rPr lang="en-ID" dirty="0"/>
              <a:t> yang </a:t>
            </a:r>
            <a:r>
              <a:rPr lang="en-ID" dirty="0" err="1"/>
              <a:t>membeli</a:t>
            </a:r>
            <a:r>
              <a:rPr lang="en-ID" dirty="0"/>
              <a:t> </a:t>
            </a:r>
            <a:r>
              <a:rPr lang="en-ID" dirty="0" err="1"/>
              <a:t>barang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perusahaan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72642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DDB95-0B60-F5B8-C405-B4CF0C580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9E7F4-1032-C8F0-9F31-ACAA6413E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4.1 Supplier (</a:t>
            </a:r>
            <a:r>
              <a:rPr lang="en-US" dirty="0" err="1"/>
              <a:t>Pemasok</a:t>
            </a:r>
            <a:r>
              <a:rPr lang="en-US" dirty="0"/>
              <a:t>)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41DD6-78BA-9B7A-E0C8-5BA2F94B13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Daftar – </a:t>
            </a:r>
            <a:r>
              <a:rPr lang="en-US" dirty="0" err="1"/>
              <a:t>Pemasok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6759B8-4E88-62D4-F80D-8A1B8CBC10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2. Data Daftar </a:t>
            </a:r>
            <a:r>
              <a:rPr lang="en-US" dirty="0" err="1"/>
              <a:t>Pemasok</a:t>
            </a:r>
            <a:endParaRPr lang="en-ID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FAFB002-34B4-2AD6-9563-3E84B59BA7A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95400" y="3308526"/>
            <a:ext cx="4718050" cy="2501549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78B4121E-0A49-0E7E-7627-1B98BF95330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80138" y="3306068"/>
            <a:ext cx="4718050" cy="250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43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B534C-8948-6633-AA07-4EBD75584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7A466-0435-6579-25EF-5BC6764DE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4.1 Customer (</a:t>
            </a:r>
            <a:r>
              <a:rPr lang="en-US" dirty="0" err="1"/>
              <a:t>Pelanggan</a:t>
            </a:r>
            <a:r>
              <a:rPr lang="en-US" dirty="0"/>
              <a:t>)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424F0-D02E-8FEC-A15A-BE45D578D6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Daftar – </a:t>
            </a:r>
            <a:r>
              <a:rPr lang="en-US" dirty="0" err="1"/>
              <a:t>Pelanggan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8CC0C5-9E21-8B28-E3F9-5FB127A60A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2. Data Daftar </a:t>
            </a:r>
            <a:r>
              <a:rPr lang="en-US" dirty="0" err="1"/>
              <a:t>Pelanggan</a:t>
            </a:r>
            <a:endParaRPr lang="en-ID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D10E0E2-765B-424A-F0BE-49FDB6C01AF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95400" y="3306068"/>
            <a:ext cx="4718050" cy="2506464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54FFCAAF-D56A-D6C2-C67F-11AAE269646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80138" y="3313440"/>
            <a:ext cx="4718050" cy="249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414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0FA75-B85A-1032-0A7C-65E8E0F5C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2EC1C-E91E-BC91-E012-699667AFB0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5. Terms/</a:t>
            </a:r>
            <a:br>
              <a:rPr lang="en-US" dirty="0"/>
            </a:br>
            <a:r>
              <a:rPr lang="en-US" dirty="0" err="1"/>
              <a:t>Syarat</a:t>
            </a:r>
            <a:r>
              <a:rPr lang="en-US" dirty="0"/>
              <a:t> </a:t>
            </a:r>
            <a:r>
              <a:rPr lang="en-US" dirty="0" err="1"/>
              <a:t>Pembayaran</a:t>
            </a:r>
            <a:endParaRPr lang="en-ID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404913D-B985-36AA-7A08-FB64EEAF1B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>
            <a:normAutofit/>
          </a:bodyPr>
          <a:lstStyle/>
          <a:p>
            <a:pPr lvl="0" algn="l"/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Syarat</a:t>
            </a:r>
            <a:r>
              <a:rPr lang="en-ID" dirty="0"/>
              <a:t> </a:t>
            </a:r>
            <a:r>
              <a:rPr lang="en-ID" dirty="0" err="1"/>
              <a:t>Pembayaran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91477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38AA8-4463-A87C-ADC3-2FC5C65FC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A5EA0-91FC-8A50-BA08-388813AB4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5.1 Terms/</a:t>
            </a:r>
            <a:r>
              <a:rPr lang="en-US" dirty="0" err="1"/>
              <a:t>Syarat</a:t>
            </a:r>
            <a:r>
              <a:rPr lang="en-US" dirty="0"/>
              <a:t> </a:t>
            </a:r>
            <a:r>
              <a:rPr lang="en-US" dirty="0" err="1"/>
              <a:t>Pembayaran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F29775-8BA9-2D80-4329-BE5157C80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Daftar – Daftar </a:t>
            </a:r>
            <a:r>
              <a:rPr lang="en-US" dirty="0" err="1"/>
              <a:t>Pembayaran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DEC538-CC29-2FEB-1D6E-A47F8B77BB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2. Data Daftar </a:t>
            </a:r>
            <a:r>
              <a:rPr lang="en-US" dirty="0" err="1"/>
              <a:t>Syarat</a:t>
            </a:r>
            <a:endParaRPr lang="en-ID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9658A5F-AE87-A1C7-715F-F3D72C36627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95400" y="3308526"/>
            <a:ext cx="4718050" cy="2501549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19F03636-047C-EDC4-3ED2-691A85E90D4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80138" y="3308526"/>
            <a:ext cx="4718050" cy="250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910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79D7B-6D33-F911-3DB3-7BF64843D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4147E-EB65-90C5-6989-F8EA064BBD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6. Alur </a:t>
            </a:r>
            <a:r>
              <a:rPr lang="en-US" dirty="0" err="1"/>
              <a:t>Pembelian</a:t>
            </a:r>
            <a:endParaRPr lang="en-ID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629229A-1E0C-1264-9BAF-59D9B98410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>
            <a:normAutofit/>
          </a:bodyPr>
          <a:lstStyle/>
          <a:p>
            <a:pPr lvl="0" algn="l"/>
            <a:r>
              <a:rPr lang="en-ID" dirty="0" err="1"/>
              <a:t>Penerimaan</a:t>
            </a:r>
            <a:r>
              <a:rPr lang="en-ID" dirty="0"/>
              <a:t> Barang → </a:t>
            </a:r>
            <a:r>
              <a:rPr lang="en-ID" dirty="0" err="1"/>
              <a:t>Faktur</a:t>
            </a:r>
            <a:r>
              <a:rPr lang="en-ID" dirty="0"/>
              <a:t> </a:t>
            </a:r>
            <a:r>
              <a:rPr lang="en-ID" dirty="0" err="1"/>
              <a:t>Pembelian</a:t>
            </a:r>
            <a:r>
              <a:rPr lang="en-ID" dirty="0"/>
              <a:t> → </a:t>
            </a:r>
            <a:r>
              <a:rPr lang="en-ID" dirty="0" err="1"/>
              <a:t>Pembayaran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93916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D2BD2-ED98-574E-CB28-9A448D4E7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4C52E-31ED-C1DC-5CE5-BA5F44095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6.1 Alur </a:t>
            </a:r>
            <a:r>
              <a:rPr lang="en-US" dirty="0" err="1"/>
              <a:t>Pembelian</a:t>
            </a:r>
            <a:r>
              <a:rPr lang="en-US" dirty="0"/>
              <a:t> (</a:t>
            </a:r>
            <a:r>
              <a:rPr lang="en-US" dirty="0" err="1"/>
              <a:t>Penerimaan</a:t>
            </a:r>
            <a:r>
              <a:rPr lang="en-US" dirty="0"/>
              <a:t> Barang)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BA0A7-0333-A2D7-CC1A-ECB32A2B1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Daftar – </a:t>
            </a:r>
            <a:r>
              <a:rPr lang="en-US" dirty="0" err="1"/>
              <a:t>Penerimaan</a:t>
            </a:r>
            <a:r>
              <a:rPr lang="en-US" dirty="0"/>
              <a:t> Barang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D86D05-07BC-493E-9C1D-5B5D5E6A55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5167514" cy="576262"/>
          </a:xfrm>
        </p:spPr>
        <p:txBody>
          <a:bodyPr/>
          <a:lstStyle/>
          <a:p>
            <a:r>
              <a:rPr lang="en-US" dirty="0"/>
              <a:t>2. Data Daftar </a:t>
            </a:r>
            <a:r>
              <a:rPr lang="en-US" dirty="0" err="1"/>
              <a:t>Penerimaan</a:t>
            </a:r>
            <a:r>
              <a:rPr lang="en-US" dirty="0"/>
              <a:t> Barang</a:t>
            </a:r>
            <a:endParaRPr lang="en-ID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33D7D26-1DC6-785A-41E9-A02920ED7B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95400" y="3308526"/>
            <a:ext cx="4718050" cy="2501549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A2B74E2C-7607-A564-135D-5366A9E5B9E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80138" y="3309754"/>
            <a:ext cx="4718050" cy="249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039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0EEC9-2336-A01F-CD01-97EC41B1D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DE8FF-DF34-C1AD-910C-AD0523F81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6.2 Alur </a:t>
            </a:r>
            <a:r>
              <a:rPr lang="en-US" dirty="0" err="1"/>
              <a:t>Pembelian</a:t>
            </a:r>
            <a:r>
              <a:rPr lang="en-US" dirty="0"/>
              <a:t> (</a:t>
            </a:r>
            <a:r>
              <a:rPr lang="en-US" dirty="0" err="1"/>
              <a:t>Faktur</a:t>
            </a:r>
            <a:r>
              <a:rPr lang="en-US" dirty="0"/>
              <a:t> </a:t>
            </a:r>
            <a:r>
              <a:rPr lang="en-US" dirty="0" err="1"/>
              <a:t>Pembelian</a:t>
            </a:r>
            <a:r>
              <a:rPr lang="en-US" dirty="0"/>
              <a:t>)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F8ACF-40F8-32A2-3EFF-511FC32A6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Daftar – </a:t>
            </a:r>
            <a:r>
              <a:rPr lang="en-US" dirty="0" err="1"/>
              <a:t>Faktur</a:t>
            </a:r>
            <a:r>
              <a:rPr lang="en-US" dirty="0"/>
              <a:t> </a:t>
            </a:r>
            <a:r>
              <a:rPr lang="en-US" dirty="0" err="1"/>
              <a:t>Pembelian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2B13AB-02B1-5AFB-6276-B7844C827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2. Data Daftar </a:t>
            </a:r>
            <a:r>
              <a:rPr lang="en-US" dirty="0" err="1"/>
              <a:t>Faktur</a:t>
            </a:r>
            <a:r>
              <a:rPr lang="en-US" dirty="0"/>
              <a:t> </a:t>
            </a:r>
            <a:r>
              <a:rPr lang="en-US" dirty="0" err="1"/>
              <a:t>Pembelian</a:t>
            </a:r>
            <a:endParaRPr lang="en-ID" dirty="0"/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A67A9E49-9125-6A40-C156-FE155FB3C84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95400" y="3301154"/>
            <a:ext cx="4718050" cy="2516293"/>
          </a:xfrm>
          <a:prstGeom prst="rect">
            <a:avLst/>
          </a:prstGeom>
        </p:spPr>
      </p:pic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9D68008B-2CA1-CC14-61B7-CDF69040784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80138" y="3306068"/>
            <a:ext cx="4718050" cy="250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936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FF0F2-BD4F-611C-DA2E-A92E32D42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E4B0E-415C-F8F3-B501-E24BBD6C5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6.3 Alur </a:t>
            </a:r>
            <a:r>
              <a:rPr lang="en-US" dirty="0" err="1"/>
              <a:t>Pembelian</a:t>
            </a:r>
            <a:r>
              <a:rPr lang="en-US" dirty="0"/>
              <a:t> (</a:t>
            </a:r>
            <a:r>
              <a:rPr lang="en-US" dirty="0" err="1"/>
              <a:t>Pembayaran</a:t>
            </a:r>
            <a:r>
              <a:rPr lang="en-US" dirty="0"/>
              <a:t> </a:t>
            </a:r>
            <a:r>
              <a:rPr lang="en-US" dirty="0" err="1"/>
              <a:t>Pembelian</a:t>
            </a:r>
            <a:r>
              <a:rPr lang="en-US" dirty="0"/>
              <a:t>)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04B532-7C5C-45E9-E4AC-01275D33E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0278" y="2658533"/>
            <a:ext cx="4993426" cy="576262"/>
          </a:xfrm>
        </p:spPr>
        <p:txBody>
          <a:bodyPr/>
          <a:lstStyle/>
          <a:p>
            <a:r>
              <a:rPr lang="en-US" dirty="0"/>
              <a:t>1. Daftar – </a:t>
            </a:r>
            <a:r>
              <a:rPr lang="en-US" dirty="0" err="1"/>
              <a:t>Pembayaran</a:t>
            </a:r>
            <a:r>
              <a:rPr lang="en-US" dirty="0"/>
              <a:t> </a:t>
            </a:r>
            <a:r>
              <a:rPr lang="en-US" dirty="0" err="1"/>
              <a:t>Pembelian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20180C-CDF1-CEAF-68D7-44179E8EF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2. Data Daftar </a:t>
            </a:r>
            <a:r>
              <a:rPr lang="en-US" dirty="0" err="1"/>
              <a:t>Pembayaran</a:t>
            </a:r>
            <a:endParaRPr lang="en-ID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2EFAE06-ADD6-BE5E-257B-AE5DB108270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95400" y="3309754"/>
            <a:ext cx="4718050" cy="2499092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60A49564-D5B0-2D0F-20B1-08E46E2F2C5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80138" y="3306068"/>
            <a:ext cx="4718050" cy="250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40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A4B84-D505-DF7D-E300-4C77C9C98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442BE-0FF2-1768-6CCA-734A031AD2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7. Alur </a:t>
            </a:r>
            <a:r>
              <a:rPr lang="en-US" dirty="0" err="1"/>
              <a:t>Penjualan</a:t>
            </a:r>
            <a:endParaRPr lang="en-ID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C0E3CB0-7450-555F-0358-6739AF1BD0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>
            <a:normAutofit/>
          </a:bodyPr>
          <a:lstStyle/>
          <a:p>
            <a:pPr lvl="0" algn="l"/>
            <a:r>
              <a:rPr lang="en-ID" dirty="0" err="1"/>
              <a:t>Faktur</a:t>
            </a:r>
            <a:r>
              <a:rPr lang="en-ID" dirty="0"/>
              <a:t> </a:t>
            </a:r>
            <a:r>
              <a:rPr lang="en-ID" dirty="0" err="1"/>
              <a:t>Penjualan</a:t>
            </a:r>
            <a:r>
              <a:rPr lang="en-ID" dirty="0"/>
              <a:t> → </a:t>
            </a:r>
            <a:r>
              <a:rPr lang="en-ID" dirty="0" err="1"/>
              <a:t>Penerimaan</a:t>
            </a:r>
            <a:r>
              <a:rPr lang="en-ID" dirty="0"/>
              <a:t> </a:t>
            </a:r>
            <a:r>
              <a:rPr lang="en-ID" dirty="0" err="1"/>
              <a:t>Penjualan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731436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B2768-0A1D-973C-E316-945658AD9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84948-6899-4239-C72E-0A00E345C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7.1 Alur </a:t>
            </a:r>
            <a:r>
              <a:rPr lang="en-US" dirty="0" err="1"/>
              <a:t>Penjualan</a:t>
            </a:r>
            <a:r>
              <a:rPr lang="en-US" dirty="0"/>
              <a:t> (</a:t>
            </a:r>
            <a:r>
              <a:rPr lang="en-US" dirty="0" err="1"/>
              <a:t>Faktur</a:t>
            </a:r>
            <a:r>
              <a:rPr lang="en-US" dirty="0"/>
              <a:t> </a:t>
            </a:r>
            <a:r>
              <a:rPr lang="en-US" dirty="0" err="1"/>
              <a:t>Penjualan</a:t>
            </a:r>
            <a:r>
              <a:rPr lang="en-US" dirty="0"/>
              <a:t>)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44CAB-7ACD-D993-7604-EEB1699D3C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Daftar – </a:t>
            </a:r>
            <a:r>
              <a:rPr lang="en-US" dirty="0" err="1"/>
              <a:t>Faktur</a:t>
            </a:r>
            <a:r>
              <a:rPr lang="en-US" dirty="0"/>
              <a:t> </a:t>
            </a:r>
            <a:r>
              <a:rPr lang="en-US" dirty="0" err="1"/>
              <a:t>Penjualan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AD0481-4643-FF1D-E40C-FDB9FF55EE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5167514" cy="576262"/>
          </a:xfrm>
        </p:spPr>
        <p:txBody>
          <a:bodyPr/>
          <a:lstStyle/>
          <a:p>
            <a:r>
              <a:rPr lang="en-US" dirty="0"/>
              <a:t>2. Data Daftar </a:t>
            </a:r>
            <a:r>
              <a:rPr lang="en-US" dirty="0" err="1"/>
              <a:t>Faktur</a:t>
            </a:r>
            <a:r>
              <a:rPr lang="en-US" dirty="0"/>
              <a:t> </a:t>
            </a:r>
            <a:r>
              <a:rPr lang="en-US" dirty="0" err="1"/>
              <a:t>Penjualan</a:t>
            </a:r>
            <a:endParaRPr lang="en-ID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88CAE0E-D361-9122-7810-9E165969DA0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95400" y="3312212"/>
            <a:ext cx="4718050" cy="2494177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CE902F16-50BB-DE66-5556-0C15ADFAB58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80138" y="3307222"/>
            <a:ext cx="4718050" cy="250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8654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40700-F1E7-457E-6E64-A72F62E68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A1643-FCBB-9C18-B55A-47D51E87C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7.2 Alur </a:t>
            </a:r>
            <a:r>
              <a:rPr lang="en-US" dirty="0" err="1"/>
              <a:t>Penjualan</a:t>
            </a:r>
            <a:r>
              <a:rPr lang="en-US" dirty="0"/>
              <a:t> (</a:t>
            </a:r>
            <a:r>
              <a:rPr lang="en-US" dirty="0" err="1"/>
              <a:t>Penerimaan</a:t>
            </a:r>
            <a:r>
              <a:rPr lang="en-US" dirty="0"/>
              <a:t> </a:t>
            </a:r>
            <a:r>
              <a:rPr lang="en-US" dirty="0" err="1"/>
              <a:t>Penjualan</a:t>
            </a:r>
            <a:r>
              <a:rPr lang="en-US" dirty="0"/>
              <a:t>)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C04A6C-C738-0E0E-05F3-EABBE4D9F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5032" y="2658533"/>
            <a:ext cx="4858672" cy="576262"/>
          </a:xfrm>
        </p:spPr>
        <p:txBody>
          <a:bodyPr/>
          <a:lstStyle/>
          <a:p>
            <a:r>
              <a:rPr lang="en-US" dirty="0"/>
              <a:t>1. Daftar – </a:t>
            </a:r>
            <a:r>
              <a:rPr lang="en-US" dirty="0" err="1"/>
              <a:t>Penerimaan</a:t>
            </a:r>
            <a:r>
              <a:rPr lang="en-US" dirty="0"/>
              <a:t> </a:t>
            </a:r>
            <a:r>
              <a:rPr lang="en-US" dirty="0" err="1"/>
              <a:t>Penjualan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9873B8-EC8D-C0BD-9BBC-39C521BD0B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5369645" cy="576262"/>
          </a:xfrm>
        </p:spPr>
        <p:txBody>
          <a:bodyPr/>
          <a:lstStyle/>
          <a:p>
            <a:r>
              <a:rPr lang="en-US" dirty="0"/>
              <a:t>2. Data Daftar </a:t>
            </a:r>
            <a:r>
              <a:rPr lang="en-US" dirty="0" err="1"/>
              <a:t>Penerimaan</a:t>
            </a:r>
            <a:r>
              <a:rPr lang="en-US" dirty="0"/>
              <a:t> </a:t>
            </a:r>
            <a:r>
              <a:rPr lang="en-US" dirty="0" err="1"/>
              <a:t>Penjualan</a:t>
            </a:r>
            <a:endParaRPr lang="en-ID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041471D-790F-DB7A-4A06-843D67AEEAE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95400" y="3304840"/>
            <a:ext cx="4718050" cy="2508921"/>
          </a:xfrm>
          <a:prstGeom prst="rect">
            <a:avLst/>
          </a:prstGeom>
        </p:spPr>
      </p:pic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F3907514-9F78-F397-E718-09C2B6BAE88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80138" y="3304840"/>
            <a:ext cx="4718050" cy="2508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5636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0F75B-4D58-38E0-7C38-F192715B6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C8C56-6C8A-44F8-29A6-DE05107EE1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8. </a:t>
            </a:r>
            <a:r>
              <a:rPr lang="en-US" dirty="0" err="1"/>
              <a:t>Biaya</a:t>
            </a:r>
            <a:r>
              <a:rPr lang="en-US" dirty="0"/>
              <a:t> </a:t>
            </a:r>
            <a:r>
              <a:rPr lang="en-US" dirty="0" err="1"/>
              <a:t>Operasional</a:t>
            </a:r>
            <a:endParaRPr lang="en-ID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DE2DEFF-2C95-4470-7E94-1B7ABD50A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>
            <a:normAutofit/>
          </a:bodyPr>
          <a:lstStyle/>
          <a:p>
            <a:pPr lvl="0" algn="l"/>
            <a:r>
              <a:rPr lang="en-ID" dirty="0"/>
              <a:t>Kas &amp; Bank → </a:t>
            </a:r>
            <a:r>
              <a:rPr lang="en-ID" dirty="0" err="1"/>
              <a:t>Pembayaran</a:t>
            </a:r>
            <a:r>
              <a:rPr lang="en-ID" dirty="0"/>
              <a:t> → Baru</a:t>
            </a:r>
          </a:p>
        </p:txBody>
      </p:sp>
    </p:spTree>
    <p:extLst>
      <p:ext uri="{BB962C8B-B14F-4D97-AF65-F5344CB8AC3E}">
        <p14:creationId xmlns:p14="http://schemas.microsoft.com/office/powerpoint/2010/main" val="19620275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929FC-CE2A-67D1-43AB-FDA39805C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79926-33D5-B19F-F0A9-DCD87BEE8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8.1 Alur </a:t>
            </a:r>
            <a:r>
              <a:rPr lang="en-US" dirty="0" err="1"/>
              <a:t>Biaya</a:t>
            </a:r>
            <a:r>
              <a:rPr lang="en-US" dirty="0"/>
              <a:t> </a:t>
            </a:r>
            <a:r>
              <a:rPr lang="en-US" dirty="0" err="1"/>
              <a:t>Operasiona</a:t>
            </a:r>
            <a:r>
              <a:rPr lang="en-US" dirty="0"/>
              <a:t>(</a:t>
            </a:r>
            <a:r>
              <a:rPr lang="en-US" dirty="0" err="1"/>
              <a:t>Pembayaran</a:t>
            </a:r>
            <a:r>
              <a:rPr lang="en-US" dirty="0"/>
              <a:t>)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C4D44-D3B4-8967-0738-18C0FEFAE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Daftar – Kas/Bank 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ACDECC-55A7-829C-6276-7E8B798FC0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5167514" cy="576262"/>
          </a:xfrm>
        </p:spPr>
        <p:txBody>
          <a:bodyPr/>
          <a:lstStyle/>
          <a:p>
            <a:r>
              <a:rPr lang="en-US" dirty="0"/>
              <a:t>2. Data Daftar Kas/Bank</a:t>
            </a:r>
            <a:endParaRPr lang="en-ID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371D330-5F2A-D0CD-9E5D-440292A905D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95400" y="3312212"/>
            <a:ext cx="4718050" cy="2494177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FC80DF80-E3A3-FAE3-6204-851B25C1703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80138" y="3304840"/>
            <a:ext cx="4718050" cy="2508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7952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78A05-FF1E-17B3-8E40-36BAA5049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DB779-771D-AF70-A7BA-F071EB342A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9. Cek Neraca Saldo</a:t>
            </a:r>
            <a:endParaRPr lang="en-ID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8320063-DA67-9D31-CDA2-5774B14AA3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>
            <a:normAutofit/>
          </a:bodyPr>
          <a:lstStyle/>
          <a:p>
            <a:pPr lvl="0" algn="l"/>
            <a:r>
              <a:rPr lang="en-ID" dirty="0" err="1"/>
              <a:t>Laporan</a:t>
            </a:r>
            <a:r>
              <a:rPr lang="en-ID" dirty="0"/>
              <a:t> → Daftar </a:t>
            </a:r>
            <a:r>
              <a:rPr lang="en-ID" dirty="0" err="1"/>
              <a:t>Laporan</a:t>
            </a:r>
            <a:r>
              <a:rPr lang="en-ID" dirty="0"/>
              <a:t> → </a:t>
            </a:r>
            <a:r>
              <a:rPr lang="en-ID" dirty="0" err="1"/>
              <a:t>Buku</a:t>
            </a:r>
            <a:r>
              <a:rPr lang="en-ID" dirty="0"/>
              <a:t> Besar → Neraca Saldo</a:t>
            </a:r>
          </a:p>
        </p:txBody>
      </p:sp>
    </p:spTree>
    <p:extLst>
      <p:ext uri="{BB962C8B-B14F-4D97-AF65-F5344CB8AC3E}">
        <p14:creationId xmlns:p14="http://schemas.microsoft.com/office/powerpoint/2010/main" val="9308548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294B0-6D72-CC6C-CE30-5A2DBAC87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A6383-9E8F-92D0-FC1B-BA43F3CBA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9.1 Cek Neraca Saldo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4968E-73B6-8C64-E27A-C54A3DC2F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Daftar – Kas/Bank 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02B0B-38F8-E4AB-3DC3-4367F691D2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5167514" cy="576262"/>
          </a:xfrm>
        </p:spPr>
        <p:txBody>
          <a:bodyPr/>
          <a:lstStyle/>
          <a:p>
            <a:r>
              <a:rPr lang="en-US" dirty="0"/>
              <a:t>2. Data Daftar Kas/Bank</a:t>
            </a:r>
            <a:endParaRPr lang="en-ID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43E4F4A-D1F4-5AD1-E833-27AAED398DF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95400" y="3301154"/>
            <a:ext cx="4718050" cy="2516293"/>
          </a:xfrm>
          <a:prstGeom prst="rect">
            <a:avLst/>
          </a:prstGeom>
        </p:spPr>
      </p:pic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FABDB143-2215-34F3-9BA8-15DE821FE2B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80138" y="3304840"/>
            <a:ext cx="4718050" cy="2508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0489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2425F-62E7-FC32-46FA-EFCD73A14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30FC6-D437-5F2D-BAC3-D2D7E521D3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10. </a:t>
            </a:r>
            <a:r>
              <a:rPr lang="en-US" dirty="0" err="1"/>
              <a:t>Laporan</a:t>
            </a:r>
            <a:r>
              <a:rPr lang="en-US" dirty="0"/>
              <a:t> Laba </a:t>
            </a:r>
            <a:r>
              <a:rPr lang="en-US" dirty="0" err="1"/>
              <a:t>Rugi</a:t>
            </a:r>
            <a:endParaRPr lang="en-ID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B19B14E-3FDF-D21B-C02F-61C7DFF1E2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>
            <a:normAutofit/>
          </a:bodyPr>
          <a:lstStyle/>
          <a:p>
            <a:pPr lvl="0" algn="l"/>
            <a:r>
              <a:rPr lang="en-ID" dirty="0" err="1"/>
              <a:t>Laporan</a:t>
            </a:r>
            <a:r>
              <a:rPr lang="en-ID" dirty="0"/>
              <a:t> → </a:t>
            </a:r>
            <a:r>
              <a:rPr lang="en-ID" dirty="0" err="1"/>
              <a:t>Laporan</a:t>
            </a:r>
            <a:r>
              <a:rPr lang="en-ID" dirty="0"/>
              <a:t> </a:t>
            </a:r>
            <a:r>
              <a:rPr lang="en-ID" dirty="0" err="1"/>
              <a:t>Keuangan</a:t>
            </a:r>
            <a:r>
              <a:rPr lang="en-ID" dirty="0"/>
              <a:t> → Laba/</a:t>
            </a:r>
            <a:r>
              <a:rPr lang="en-ID" dirty="0" err="1"/>
              <a:t>Rugi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764904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3B496-E38A-B917-7E45-CBD71F5C9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EEF66-2C6B-551D-37B2-C4C524CB7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9.1 Cek Neraca Saldo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C517D-D30B-2B18-6072-747C34FABE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Daftar – Kas/Bank 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721648-4DE8-835D-4803-4584E7B9E4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5167514" cy="576262"/>
          </a:xfrm>
        </p:spPr>
        <p:txBody>
          <a:bodyPr/>
          <a:lstStyle/>
          <a:p>
            <a:r>
              <a:rPr lang="en-US" dirty="0"/>
              <a:t>2. Data Daftar Kas/Bank</a:t>
            </a:r>
            <a:endParaRPr lang="en-ID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2D6DBB8-D241-90F5-72D9-22E9D3FFDBB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95400" y="3308526"/>
            <a:ext cx="4718050" cy="2501549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4A400589-3EBA-6467-6631-4EE6B606428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80138" y="3308526"/>
            <a:ext cx="4718050" cy="250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7575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356</TotalTime>
  <Words>393</Words>
  <Application>Microsoft Office PowerPoint</Application>
  <PresentationFormat>Widescreen</PresentationFormat>
  <Paragraphs>69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Garamond</vt:lpstr>
      <vt:lpstr>Organic</vt:lpstr>
      <vt:lpstr>RANGKUMAN CEPAT</vt:lpstr>
      <vt:lpstr>1. Setup Perusahaan</vt:lpstr>
      <vt:lpstr>1.1 Setup Perusahaan</vt:lpstr>
      <vt:lpstr>1.2 Setup Perusahaan</vt:lpstr>
      <vt:lpstr>1.3 Setup Perusahaan</vt:lpstr>
      <vt:lpstr>2. Chart of Accounts (COA)</vt:lpstr>
      <vt:lpstr>2.1 Daftar Akun</vt:lpstr>
      <vt:lpstr>3. Master Barangs</vt:lpstr>
      <vt:lpstr>3.1 Master Barang</vt:lpstr>
      <vt:lpstr>4. Supplier &amp; Customer</vt:lpstr>
      <vt:lpstr>4.1 Supplier (Pemasok)</vt:lpstr>
      <vt:lpstr>4.1 Customer (Pelanggan)</vt:lpstr>
      <vt:lpstr>5. Terms/ Syarat Pembayaran</vt:lpstr>
      <vt:lpstr>5.1 Terms/Syarat Pembayaran</vt:lpstr>
      <vt:lpstr>6. Alur Pembelian</vt:lpstr>
      <vt:lpstr>6.1 Alur Pembelian (Penerimaan Barang)</vt:lpstr>
      <vt:lpstr>6.2 Alur Pembelian (Faktur Pembelian)</vt:lpstr>
      <vt:lpstr>6.3 Alur Pembelian (Pembayaran Pembelian)</vt:lpstr>
      <vt:lpstr>7. Alur Penjualan</vt:lpstr>
      <vt:lpstr>7.1 Alur Penjualan (Faktur Penjualan)</vt:lpstr>
      <vt:lpstr>7.2 Alur Penjualan (Penerimaan Penjualan)</vt:lpstr>
      <vt:lpstr>8. Biaya Operasional</vt:lpstr>
      <vt:lpstr>8.1 Alur Biaya Operasiona(Pembayaran)</vt:lpstr>
      <vt:lpstr>9. Cek Neraca Saldo</vt:lpstr>
      <vt:lpstr>9.1 Cek Neraca Saldo</vt:lpstr>
      <vt:lpstr>10. Laporan Laba Rugi</vt:lpstr>
      <vt:lpstr>9.1 Cek Neraca Saldo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Ramdani</dc:creator>
  <cp:lastModifiedBy>Muhammad Ramdani</cp:lastModifiedBy>
  <cp:revision>116</cp:revision>
  <dcterms:created xsi:type="dcterms:W3CDTF">2026-09-28T06:41:41Z</dcterms:created>
  <dcterms:modified xsi:type="dcterms:W3CDTF">2026-09-28T12:38:05Z</dcterms:modified>
</cp:coreProperties>
</file>